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penSans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a90a5373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a90a5373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a90a537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a90a537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8c166385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8c166385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8c16638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8c16638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8c166385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8c166385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Class participation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Start at full points (10%)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 points for missing 3+ lecture/labs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 points for disruptions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○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gain lost points for particularly useful questions/engagement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8c166385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8c166385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8c166385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8c166385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8c16638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8c16638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8c166385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8c166385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8c166385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8c166385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8c166385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8c166385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a90a537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a90a537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a90a5373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a90a5373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a90a5373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a90a5373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a90a5373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2a90a5373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olab.research.google.com/" TargetMode="External"/><Relationship Id="rId4" Type="http://schemas.openxmlformats.org/officeDocument/2006/relationships/hyperlink" Target="https://github.com" TargetMode="External"/><Relationship Id="rId5" Type="http://schemas.openxmlformats.org/officeDocument/2006/relationships/hyperlink" Target="https://huggingface.co/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92800"/>
            <a:ext cx="8520600" cy="81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Machine Learning for Drug Discovery</a:t>
            </a:r>
            <a:endParaRPr sz="3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398800"/>
            <a:ext cx="8520600" cy="3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BIOINF / MedChem 595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Tuesday and Friday 11:30a - 1:00p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Room MedSci II 2813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O’Meara &amp; Terra Sztain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for Today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0" y="823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the Syllabus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Learning Objectives, Expectations, Grading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backgrounds and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Set-up computational environments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Brief overview of drug discovery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-- Matt O'Meara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14600" y="572700"/>
            <a:ext cx="9029400" cy="44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Undergraduate Math at University of Chicago (graduated in 2007)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PhD from UNC Chapel Hill, 2013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Co-advised by Jack Snoeyink (CS) and Brian Kuhlman (Biochemistry)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Collaborated with RosettaCommons on the Rosetta Energy Function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Can we refine polar interactions by comparing geometries of simulated and real interactions?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Postdoc with Brian Shoichet at UCSF (2019)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Why do different receptors recognize similar drugs?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Chemoinformatic analysis of bioactive chemical 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How effective is large-scale docking?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Statistical analysis of hit-rate enrichment for virtual screening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Assistant Professor at UMich (2019-2023)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SARS-CoV-2 drug repurposing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Analysis of morphological profiling phenotypic screens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Assistant Professor at UMich (2023-Current)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How to combine large-scale bioactivity data with molecular simulations to learn chemical foundation models?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3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– Terra Sztain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903300"/>
            <a:ext cx="8520600" cy="38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Undergraduate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Pasadena City College 2011 - 2014 Biochemistry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UCLA 2014 - 2016 Biochemistry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epigenetics in drug resistant triple negative breast cancer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UCSD 2016 - 2021 Biochemistry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Advisors: Andy McCammon &amp; Michael Burkart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protein dynamics to re-engineer natural product biosynthetic pathways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Elucidating dynamic mechanisms of SARS-CoV-2 viral proteins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Postdoc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Freie Universität Berlin 2021 - 2023 Mathematics and Computer Science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Machine learning driven simulations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Assistant Professor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UM 2023 - Present Medicinal Chemistry &amp; Biophysics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Computer-aided molecular design 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0" y="524375"/>
            <a:ext cx="8520600" cy="17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Familiarity with linear algebra and basic programming (BIOINF-575 or equivalent), or approval by instructor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You all belong! You all have different backgrounds and learning objectives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130525" y="2307875"/>
            <a:ext cx="8520600" cy="27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(10 minutes)</a:t>
            </a:r>
            <a:r>
              <a:rPr lang="en"/>
              <a:t>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Pair up with someone you don't yet know in the class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Introduce yourself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Name, program, "non-fun-fact"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Tell each other what one of your main research interests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E.g. elevator pitch for your thesis project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is one thing you are hoping to learn in the course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E.g. What is a transformer model?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is one thing you are concerned about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is a molecular orbital?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Participation 10%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Homework / Labs 30%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 Presentations 20%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Technical</a:t>
            </a:r>
            <a:r>
              <a:rPr lang="en"/>
              <a:t> Reports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20% Structural Modeling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20% Bioactivity ML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Presentations 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 up for </a:t>
            </a:r>
            <a:r>
              <a:rPr lang="en"/>
              <a:t>preferred</a:t>
            </a:r>
            <a:r>
              <a:rPr lang="en"/>
              <a:t> topic / date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15 min presentation + 5 minutes questions at the end of each class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Scoring</a:t>
            </a:r>
            <a:r>
              <a:rPr lang="en"/>
              <a:t>: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Criteria each is scored 1-5 and the score is summed to 20%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statement of the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summary of the results and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description of the conclusions/limitations of the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Answering questions about the 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Reports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Criteria each is scored 1-5 and the score is summed to 20%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statement of the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Methods detailed enough to be reproduced without any additional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description of the results/conclusions/limitations of the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Informative figures conveying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Format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pages not including 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11 pt font Arial (10 pt for figure legends)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Sections: Abstract, Intro, Methods, Results, Conclusion, References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329800" y="12100"/>
            <a:ext cx="168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474" y="584800"/>
            <a:ext cx="6558773" cy="455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 rotWithShape="1">
          <a:blip r:embed="rId3">
            <a:alphaModFix/>
          </a:blip>
          <a:srcRect b="8667" l="0" r="0" t="0"/>
          <a:stretch/>
        </p:blipFill>
        <p:spPr>
          <a:xfrm>
            <a:off x="1398575" y="572700"/>
            <a:ext cx="6250404" cy="45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 txBox="1"/>
          <p:nvPr>
            <p:ph type="title"/>
          </p:nvPr>
        </p:nvSpPr>
        <p:spPr>
          <a:xfrm>
            <a:off x="2830325" y="0"/>
            <a:ext cx="27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(cont.)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388" y="860825"/>
            <a:ext cx="6909224" cy="423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 txBox="1"/>
          <p:nvPr>
            <p:ph type="title"/>
          </p:nvPr>
        </p:nvSpPr>
        <p:spPr>
          <a:xfrm>
            <a:off x="2830325" y="0"/>
            <a:ext cx="27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(cont.)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38" y="1046175"/>
            <a:ext cx="6997126" cy="38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4"/>
          <p:cNvSpPr txBox="1"/>
          <p:nvPr>
            <p:ph type="title"/>
          </p:nvPr>
        </p:nvSpPr>
        <p:spPr>
          <a:xfrm>
            <a:off x="2830325" y="0"/>
            <a:ext cx="27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(cont.)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Environments: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0" y="677875"/>
            <a:ext cx="8364900" cy="4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Great Lakes</a:t>
            </a:r>
            <a:endParaRPr b="1" sz="20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Great lakes is a compute cluster managed by ARC-TS on campus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haven't already, sign up for an account =&gt;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We'll go into details about how to use it, but check out the documentation/</a:t>
            </a:r>
            <a:r>
              <a:rPr lang="en" sz="1500"/>
              <a:t>user's</a:t>
            </a:r>
            <a:r>
              <a:rPr lang="en" sz="1500"/>
              <a:t> guide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Usage: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 browser: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greatlakes.arc-ts.umich.edu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●"/>
            </a:pPr>
            <a:r>
              <a:rPr lang="en" sz="1500"/>
              <a:t>Command line: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ssh greatlakes.arc-ts.umich.edu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store data for class: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/nfs/turbo/dcmb-class/bioinf595/sec001/&lt;uniqname&gt;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" sz="1500"/>
              <a:t>submit jobs using this account: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bioinf595w25_class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" sz="1500"/>
              <a:t>Each student has $60 of credits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Tips: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Don't run jobs on the login node, use interactive or batch jobs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Tmux to be able to disconnect/reconnect</a:t>
            </a:r>
            <a:endParaRPr sz="1500"/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5475" y="219475"/>
            <a:ext cx="1403051" cy="140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Environments: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0" y="677875"/>
            <a:ext cx="5736300" cy="38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Web resources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83"/>
              <a:t>Google Colab</a:t>
            </a:r>
            <a:endParaRPr b="1" sz="1483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Platform for computational notebooks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 to: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https://colab.research.google.com/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83"/>
              <a:t>GitHub</a:t>
            </a:r>
            <a:endParaRPr b="1" sz="1483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Platform for sharing code using git-repositories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 to: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https://github.com/</a:t>
            </a:r>
            <a:r>
              <a:rPr lang="en" sz="1500"/>
              <a:t>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83"/>
              <a:t>HuggingFace</a:t>
            </a:r>
            <a:endParaRPr sz="15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Platform for sharing datasets, models, demos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 to: </a:t>
            </a:r>
            <a:r>
              <a:rPr lang="en" sz="1500" u="sng">
                <a:solidFill>
                  <a:schemeClr val="hlink"/>
                </a:solidFill>
                <a:hlinkClick r:id="rId5"/>
              </a:rPr>
              <a:t>https://huggingface.co/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5425" y="892224"/>
            <a:ext cx="3023700" cy="1152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0775" y="2364150"/>
            <a:ext cx="3319724" cy="12060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22876" y="3779900"/>
            <a:ext cx="2976249" cy="127520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107200" y="211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Submit your Account names!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800" y="892575"/>
            <a:ext cx="4054699" cy="40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Editors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0" y="784900"/>
            <a:ext cx="8520600" cy="43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Good choices: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GUI: VS Code, R-studio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Terminal: emacs, VIM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focused: Cursor, Windsurf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Considerations: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an editor is an investment that pays off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use emacs when I login to great lakes and Rstudio when I'm working </a:t>
            </a:r>
            <a:r>
              <a:rPr lang="en"/>
              <a:t>with</a:t>
            </a:r>
            <a:r>
              <a:rPr lang="en"/>
              <a:t> R code locally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folks in my lab use VS Code and some emacs/VIM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I'm curious to hear </a:t>
            </a:r>
            <a:r>
              <a:rPr lang="en"/>
              <a:t>anyone's</a:t>
            </a:r>
            <a:r>
              <a:rPr lang="en"/>
              <a:t> experience with Cursor/Windsurf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Windows/MacOS/Linux are all fine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